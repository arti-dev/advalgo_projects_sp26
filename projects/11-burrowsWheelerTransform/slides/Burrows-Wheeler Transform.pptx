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y="5143500" cx="9144000"/>
  <p:notesSz cx="6858000" cy="9144000"/>
  <p:embeddedFontLst>
    <p:embeddedFont>
      <p:font typeface="Barlow ExtraLight"/>
      <p:regular r:id="rId65"/>
      <p:bold r:id="rId66"/>
      <p:italic r:id="rId67"/>
      <p:boldItalic r:id="rId68"/>
    </p:embeddedFont>
    <p:embeddedFont>
      <p:font typeface="Hepta Slab Medium"/>
      <p:regular r:id="rId69"/>
      <p:bold r:id="rId70"/>
    </p:embeddedFont>
    <p:embeddedFont>
      <p:font typeface="Hepta Slab Light"/>
      <p:regular r:id="rId71"/>
      <p:bold r:id="rId72"/>
    </p:embeddedFont>
    <p:embeddedFont>
      <p:font typeface="Hepta Slab"/>
      <p:regular r:id="rId73"/>
      <p:bold r:id="rId74"/>
    </p:embeddedFont>
    <p:embeddedFont>
      <p:font typeface="Barlow Medium"/>
      <p:regular r:id="rId75"/>
      <p:bold r:id="rId76"/>
      <p:italic r:id="rId77"/>
      <p:boldItalic r:id="rId78"/>
    </p:embeddedFont>
    <p:embeddedFont>
      <p:font typeface="Barlow Light"/>
      <p:regular r:id="rId79"/>
      <p:bold r:id="rId80"/>
      <p:italic r:id="rId81"/>
      <p:boldItalic r:id="rId82"/>
    </p:embeddedFont>
    <p:embeddedFont>
      <p:font typeface="Barlow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59CCF9-68A0-4872-80AA-E3C8BB3DD3FC}">
  <a:tblStyle styleId="{A459CCF9-68A0-4872-80AA-E3C8BB3DD3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Barlow-bold.fntdata"/><Relationship Id="rId83" Type="http://schemas.openxmlformats.org/officeDocument/2006/relationships/font" Target="fonts/Barlow-regular.fntdata"/><Relationship Id="rId42" Type="http://schemas.openxmlformats.org/officeDocument/2006/relationships/slide" Target="slides/slide35.xml"/><Relationship Id="rId86" Type="http://schemas.openxmlformats.org/officeDocument/2006/relationships/font" Target="fonts/Barlow-boldItalic.fntdata"/><Relationship Id="rId41" Type="http://schemas.openxmlformats.org/officeDocument/2006/relationships/slide" Target="slides/slide34.xml"/><Relationship Id="rId85" Type="http://schemas.openxmlformats.org/officeDocument/2006/relationships/font" Target="fonts/Barlow-italic.fntdata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BarlowLight-bold.fntdata"/><Relationship Id="rId82" Type="http://schemas.openxmlformats.org/officeDocument/2006/relationships/font" Target="fonts/BarlowLight-boldItalic.fntdata"/><Relationship Id="rId81" Type="http://schemas.openxmlformats.org/officeDocument/2006/relationships/font" Target="fonts/Barlow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HeptaSlab-regular.fntdata"/><Relationship Id="rId72" Type="http://schemas.openxmlformats.org/officeDocument/2006/relationships/font" Target="fonts/HeptaSlabLight-bold.fntdata"/><Relationship Id="rId31" Type="http://schemas.openxmlformats.org/officeDocument/2006/relationships/slide" Target="slides/slide24.xml"/><Relationship Id="rId75" Type="http://schemas.openxmlformats.org/officeDocument/2006/relationships/font" Target="fonts/BarlowMedium-regular.fntdata"/><Relationship Id="rId30" Type="http://schemas.openxmlformats.org/officeDocument/2006/relationships/slide" Target="slides/slide23.xml"/><Relationship Id="rId74" Type="http://schemas.openxmlformats.org/officeDocument/2006/relationships/font" Target="fonts/HeptaSlab-bold.fntdata"/><Relationship Id="rId33" Type="http://schemas.openxmlformats.org/officeDocument/2006/relationships/slide" Target="slides/slide26.xml"/><Relationship Id="rId77" Type="http://schemas.openxmlformats.org/officeDocument/2006/relationships/font" Target="fonts/BarlowMedium-italic.fntdata"/><Relationship Id="rId32" Type="http://schemas.openxmlformats.org/officeDocument/2006/relationships/slide" Target="slides/slide25.xml"/><Relationship Id="rId76" Type="http://schemas.openxmlformats.org/officeDocument/2006/relationships/font" Target="fonts/BarlowMedium-bold.fntdata"/><Relationship Id="rId35" Type="http://schemas.openxmlformats.org/officeDocument/2006/relationships/slide" Target="slides/slide28.xml"/><Relationship Id="rId79" Type="http://schemas.openxmlformats.org/officeDocument/2006/relationships/font" Target="fonts/BarlowLight-regular.fntdata"/><Relationship Id="rId34" Type="http://schemas.openxmlformats.org/officeDocument/2006/relationships/slide" Target="slides/slide27.xml"/><Relationship Id="rId78" Type="http://schemas.openxmlformats.org/officeDocument/2006/relationships/font" Target="fonts/BarlowMedium-boldItalic.fntdata"/><Relationship Id="rId71" Type="http://schemas.openxmlformats.org/officeDocument/2006/relationships/font" Target="fonts/HeptaSlabLight-regular.fntdata"/><Relationship Id="rId70" Type="http://schemas.openxmlformats.org/officeDocument/2006/relationships/font" Target="fonts/HeptaSlabMedium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BarlowExtraLight-bold.fntdata"/><Relationship Id="rId21" Type="http://schemas.openxmlformats.org/officeDocument/2006/relationships/slide" Target="slides/slide14.xml"/><Relationship Id="rId65" Type="http://schemas.openxmlformats.org/officeDocument/2006/relationships/font" Target="fonts/BarlowExtraLight-regular.fntdata"/><Relationship Id="rId24" Type="http://schemas.openxmlformats.org/officeDocument/2006/relationships/slide" Target="slides/slide17.xml"/><Relationship Id="rId68" Type="http://schemas.openxmlformats.org/officeDocument/2006/relationships/font" Target="fonts/BarlowExtraLight-boldItalic.fntdata"/><Relationship Id="rId23" Type="http://schemas.openxmlformats.org/officeDocument/2006/relationships/slide" Target="slides/slide16.xml"/><Relationship Id="rId67" Type="http://schemas.openxmlformats.org/officeDocument/2006/relationships/font" Target="fonts/BarlowExtraLight-italic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HeptaSlabMedium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8406c4345_1_1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8406c4345_1_1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8406c4345_1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8406c4345_1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8ba0d5d6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d8ba0d5d6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8ba0d5d6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d8ba0d5d6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8ba0d5d6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8ba0d5d6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8ba0d5d6a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8ba0d5d6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8ba0d5d6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8ba0d5d6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8406c4345_1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8406c4345_1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hit these points on this slide: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using BWT to do this stuff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preps data for compression by grouping identical characters into runs, whenever repeated patterns appear in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reversible, so the original can be reconstructed, so this is just something added to compression algorithms for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useful for ____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Compression	-	bzip2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Genome sequencing	-	 bowtie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chars tend to be grouped together	- run length encoding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8ba0d5d6a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8ba0d5d6a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ABC since it shows development of runs since only a few possible characters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true with normal input too at larger scales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8406c4345_1_1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8406c4345_1_1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8ba0d5d6a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d8ba0d5d6a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8ba0d5d6a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8ba0d5d6a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8ba0d5d6a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d8ba0d5d6a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8ba0d5d6a_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8ba0d5d6a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8ba0d5d6a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8ba0d5d6a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8ba0d5d6a_3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8ba0d5d6a_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8ba0d5d6a_3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8ba0d5d6a_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8ba0d5d6a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8ba0d5d6a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8ba0d5d6a_3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8ba0d5d6a_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8ba0d5d6a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d8ba0d5d6a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8ba0d5d6a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d8ba0d5d6a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d8ba0d5d6a_3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d8ba0d5d6a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8ba0d5d6a_3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8ba0d5d6a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8ba0d5d6a_3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8ba0d5d6a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prepending string as column and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opposite of sort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8ba0d5d6a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8ba0d5d6a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8ba0d5d6a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8ba0d5d6a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8ba0d5d6a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d8ba0d5d6a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8ba0d5d6a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d8ba0d5d6a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8ba0d5d6a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8ba0d5d6a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8ba0d5d6a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8ba0d5d6a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8ba0d5d6a_5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d8ba0d5d6a_5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8ba0d5d6a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8ba0d5d6a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8ba0d5d6a_5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d8ba0d5d6a_5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8ba0d5d6a_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d8ba0d5d6a_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d8ba0d5d6a_5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d8ba0d5d6a_5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8ba0d5d6a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d8ba0d5d6a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8ba0d5d6a_5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d8ba0d5d6a_5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8ba0d5d6a_5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8ba0d5d6a_5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d8ba0d5d6a_5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d8ba0d5d6a_5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d8ba0d5d6a_5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d8ba0d5d6a_5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d8ba0d5d6a_5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d8ba0d5d6a_5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d8ba0d5d6a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d8ba0d5d6a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8ba0d5d6a_5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d8ba0d5d6a_5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d8ba0d5d6a_5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d8ba0d5d6a_5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8ba0d5d6a_5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d8ba0d5d6a_5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d8ba0d5d6a_5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d8ba0d5d6a_5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8ba0d5d6a_5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d8ba0d5d6a_5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d8ba0d5d6a_5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d8ba0d5d6a_5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8ba0d5d6a_5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8ba0d5d6a_5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8ba0d5d6a_5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d8ba0d5d6a_5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d8ba0d5d6a_5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d8ba0d5d6a_5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d8ba0d5d6a_5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d8ba0d5d6a_5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8ba0d5d6a_5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d8ba0d5d6a_5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d8ba0d5d6a_5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d8ba0d5d6a_5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8ba0d5d6a_5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8ba0d5d6a_5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8ba0d5d6a_5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8ba0d5d6a_5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8ba0d5d6a_5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d8ba0d5d6a_5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basic algorithm since it helps show the motivation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rgbClr val="09012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Medium"/>
              <a:buNone/>
              <a:defRPr sz="1500">
                <a:solidFill>
                  <a:schemeClr val="l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Hepta Slab Medium"/>
              <a:buNone/>
              <a:defRPr>
                <a:solidFill>
                  <a:schemeClr val="accent4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Barlow"/>
              <a:buChar char="●"/>
              <a:defRPr sz="11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4"/>
                </a:solidFill>
              </a:defRPr>
            </a:lvl1pPr>
            <a:lvl2pPr lvl="1" rtl="0">
              <a:buNone/>
              <a:defRPr sz="1100">
                <a:solidFill>
                  <a:schemeClr val="accent4"/>
                </a:solidFill>
              </a:defRPr>
            </a:lvl2pPr>
            <a:lvl3pPr lvl="2" rtl="0">
              <a:buNone/>
              <a:defRPr sz="1100">
                <a:solidFill>
                  <a:schemeClr val="accent4"/>
                </a:solidFill>
              </a:defRPr>
            </a:lvl3pPr>
            <a:lvl4pPr lvl="3" rtl="0">
              <a:buNone/>
              <a:defRPr sz="1100">
                <a:solidFill>
                  <a:schemeClr val="accent4"/>
                </a:solidFill>
              </a:defRPr>
            </a:lvl4pPr>
            <a:lvl5pPr lvl="4" rtl="0">
              <a:buNone/>
              <a:defRPr sz="1100">
                <a:solidFill>
                  <a:schemeClr val="accent4"/>
                </a:solidFill>
              </a:defRPr>
            </a:lvl5pPr>
            <a:lvl6pPr lvl="5" rtl="0">
              <a:buNone/>
              <a:defRPr sz="1100">
                <a:solidFill>
                  <a:schemeClr val="accent4"/>
                </a:solidFill>
              </a:defRPr>
            </a:lvl6pPr>
            <a:lvl7pPr lvl="6" rtl="0">
              <a:buNone/>
              <a:defRPr sz="1100">
                <a:solidFill>
                  <a:schemeClr val="accent4"/>
                </a:solidFill>
              </a:defRPr>
            </a:lvl7pPr>
            <a:lvl8pPr lvl="7" rtl="0">
              <a:buNone/>
              <a:defRPr sz="1100">
                <a:solidFill>
                  <a:schemeClr val="accent4"/>
                </a:solidFill>
              </a:defRPr>
            </a:lvl8pPr>
            <a:lvl9pPr lvl="8" rtl="0">
              <a:buNone/>
              <a:defRPr sz="1100">
                <a:solidFill>
                  <a:schemeClr val="accent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accent4"/>
                </a:solidFill>
              </a:rPr>
              <a:t>Burrows-Wheeler Transform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2686120" y="2902000"/>
            <a:ext cx="39819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lt2"/>
                </a:solidFill>
              </a:rPr>
              <a:t>Dylan Beyerlein Nathan Dela Paz Rishi Kandimalla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Problem		</a:t>
            </a:r>
            <a:endParaRPr sz="2400"/>
          </a:p>
        </p:txBody>
      </p:sp>
      <p:sp>
        <p:nvSpPr>
          <p:cNvPr id="378" name="Google Shape;378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60"/>
          <p:cNvSpPr txBox="1"/>
          <p:nvPr/>
        </p:nvSpPr>
        <p:spPr>
          <a:xfrm>
            <a:off x="480425" y="1002375"/>
            <a:ext cx="6698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Compression 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algorithms are designed to exploit </a:t>
            </a:r>
            <a:r>
              <a:rPr b="1" lang="en" sz="15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runs of characters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: 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aaaa</a:t>
            </a:r>
            <a:r>
              <a:rPr b="1" lang="en" sz="2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bbbbb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nnnn</a:t>
            </a:r>
            <a:endParaRPr b="1" sz="2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Data often comes with repeated patterns: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2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Can we utilize these repeated patterns with a transform that creates runs of characters?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1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nnnn</a:t>
            </a:r>
            <a:r>
              <a:rPr b="1" lang="en" sz="21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10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b="1" lang="en" sz="21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aaaaaa</a:t>
            </a:r>
            <a:endParaRPr b="1"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After, can we reverse the transform?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Encoding</a:t>
            </a:r>
            <a:endParaRPr sz="2400"/>
          </a:p>
        </p:txBody>
      </p:sp>
      <p:sp>
        <p:nvSpPr>
          <p:cNvPr id="385" name="Google Shape;385;p6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6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 with </a:t>
            </a:r>
            <a:r>
              <a:rPr b="1" lang="en" sz="19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banana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and add an end marker, </a:t>
            </a:r>
            <a:r>
              <a:rPr b="1" lang="en" sz="19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7" name="Google Shape;387;p61"/>
          <p:cNvSpPr txBox="1"/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94" name="Google Shape;394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6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Take all the cyclic rotations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6" name="Google Shape;396;p62"/>
          <p:cNvSpPr txBox="1"/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anana$b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nana$ba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ana$ban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na$bana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a$banan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$banana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97" name="Google Shape;39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03" name="Google Shape;403;p6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63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 them into lexical order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5" name="Google Shape;405;p63"/>
          <p:cNvSpPr txBox="1"/>
          <p:nvPr>
            <p:ph type="title"/>
          </p:nvPr>
        </p:nvSpPr>
        <p:spPr>
          <a:xfrm>
            <a:off x="723850" y="1584825"/>
            <a:ext cx="44745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6" name="Google Shape;40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/>
          <p:nvPr>
            <p:ph type="title"/>
          </p:nvPr>
        </p:nvSpPr>
        <p:spPr>
          <a:xfrm>
            <a:off x="3054250" y="2317550"/>
            <a:ext cx="23715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annb$aa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6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Encoding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13" name="Google Shape;413;p6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64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Take the last column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5" name="Google Shape;415;p64"/>
          <p:cNvSpPr txBox="1"/>
          <p:nvPr>
            <p:ph type="title"/>
          </p:nvPr>
        </p:nvSpPr>
        <p:spPr>
          <a:xfrm>
            <a:off x="723850" y="1584825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2600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6" name="Google Shape;416;p64"/>
          <p:cNvSpPr txBox="1"/>
          <p:nvPr/>
        </p:nvSpPr>
        <p:spPr>
          <a:xfrm>
            <a:off x="3054250" y="1962175"/>
            <a:ext cx="2681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Output: </a:t>
            </a:r>
            <a:endParaRPr b="1" sz="20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17" name="Google Shape;41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Why This Works</a:t>
            </a:r>
            <a:endParaRPr sz="2400"/>
          </a:p>
        </p:txBody>
      </p:sp>
      <p:sp>
        <p:nvSpPr>
          <p:cNvPr id="423" name="Google Shape;423;p6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65"/>
          <p:cNvSpPr txBox="1"/>
          <p:nvPr/>
        </p:nvSpPr>
        <p:spPr>
          <a:xfrm>
            <a:off x="3062175" y="1273625"/>
            <a:ext cx="57291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Sorting groups patterns together 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One </a:t>
            </a:r>
            <a:r>
              <a:rPr b="1" lang="en" sz="24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17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is next to another </a:t>
            </a:r>
            <a:r>
              <a:rPr b="1" lang="en" sz="24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Preceding characters are often the same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Barlow Light"/>
              <a:buChar char="-"/>
            </a:pPr>
            <a:r>
              <a:rPr b="1" lang="en" sz="24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comes before </a:t>
            </a:r>
            <a:r>
              <a:rPr b="1" lang="en" sz="24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every time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Consider: a long passage where the most common word is “</a:t>
            </a:r>
            <a:r>
              <a:rPr b="1" lang="en"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the</a:t>
            </a:r>
            <a:r>
              <a:rPr lang="en" sz="16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”</a:t>
            </a:r>
            <a:endParaRPr sz="16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5" name="Google Shape;425;p65"/>
          <p:cNvSpPr txBox="1"/>
          <p:nvPr>
            <p:ph type="title"/>
          </p:nvPr>
        </p:nvSpPr>
        <p:spPr>
          <a:xfrm>
            <a:off x="723850" y="1584825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2600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b="1" lang="en" sz="26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Applications</a:t>
            </a:r>
            <a:endParaRPr sz="2400"/>
          </a:p>
        </p:txBody>
      </p:sp>
      <p:sp>
        <p:nvSpPr>
          <p:cNvPr id="431" name="Google Shape;431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66"/>
          <p:cNvSpPr txBox="1"/>
          <p:nvPr/>
        </p:nvSpPr>
        <p:spPr>
          <a:xfrm>
            <a:off x="526675" y="912125"/>
            <a:ext cx="3381900" cy="35646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Compression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Preprocessing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Produces Runs </a:t>
            </a: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(Run Length Encoding)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○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AAAAAAA -&gt; 7A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Reversible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Used in bzip2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3" name="Google Shape;433;p66"/>
          <p:cNvSpPr txBox="1"/>
          <p:nvPr/>
        </p:nvSpPr>
        <p:spPr>
          <a:xfrm>
            <a:off x="5445825" y="912125"/>
            <a:ext cx="31743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4" name="Google Shape;434;p66"/>
          <p:cNvSpPr txBox="1"/>
          <p:nvPr/>
        </p:nvSpPr>
        <p:spPr>
          <a:xfrm>
            <a:off x="4808825" y="912125"/>
            <a:ext cx="3381900" cy="35646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Genome Sequencing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Billions character long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Need to match section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BWT allows 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searching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efficiently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Clusters patterns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7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 Compression</a:t>
            </a:r>
            <a:endParaRPr/>
          </a:p>
        </p:txBody>
      </p:sp>
      <p:sp>
        <p:nvSpPr>
          <p:cNvPr id="441" name="Google Shape;441;p67"/>
          <p:cNvSpPr txBox="1"/>
          <p:nvPr>
            <p:ph idx="5" type="body"/>
          </p:nvPr>
        </p:nvSpPr>
        <p:spPr>
          <a:xfrm>
            <a:off x="267975" y="1941575"/>
            <a:ext cx="87474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CBABACACBBACABBACCCABACBABBACBACCBCBCABABBACACBCBABBACABACBBACABBCBCACABBACBBCBACABBACBCAAC</a:t>
            </a:r>
            <a:endParaRPr sz="1200"/>
          </a:p>
        </p:txBody>
      </p:sp>
      <p:sp>
        <p:nvSpPr>
          <p:cNvPr id="442" name="Google Shape;442;p67"/>
          <p:cNvSpPr txBox="1"/>
          <p:nvPr>
            <p:ph idx="5" type="body"/>
          </p:nvPr>
        </p:nvSpPr>
        <p:spPr>
          <a:xfrm>
            <a:off x="248065" y="3234125"/>
            <a:ext cx="8787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2020"/>
                </a:highlight>
              </a:rPr>
              <a:t>CCC</a:t>
            </a:r>
            <a:r>
              <a:rPr lang="en" sz="1200"/>
              <a:t>B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chemeClr val="accent3"/>
                </a:highlight>
              </a:rPr>
              <a:t>BBB</a:t>
            </a:r>
            <a:r>
              <a:rPr lang="en" sz="1200">
                <a:highlight>
                  <a:srgbClr val="FF2020"/>
                </a:highlight>
              </a:rPr>
              <a:t>CCCC</a:t>
            </a:r>
            <a:r>
              <a:rPr lang="en" sz="1200"/>
              <a:t>ABC</a:t>
            </a:r>
            <a:r>
              <a:rPr lang="en" sz="1200">
                <a:highlight>
                  <a:schemeClr val="accent3"/>
                </a:highlight>
              </a:rPr>
              <a:t>BBBBBBB</a:t>
            </a:r>
            <a:r>
              <a:rPr lang="en" sz="1200"/>
              <a:t>C</a:t>
            </a:r>
            <a:r>
              <a:rPr lang="en" sz="1200">
                <a:highlight>
                  <a:schemeClr val="accent3"/>
                </a:highlight>
              </a:rPr>
              <a:t>BBB</a:t>
            </a:r>
            <a:r>
              <a:rPr lang="en" sz="1200"/>
              <a:t>C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/>
              <a:t>ACBC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ABABA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CBA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/>
              <a:t>CA</a:t>
            </a:r>
            <a:r>
              <a:rPr lang="en" sz="1200">
                <a:highlight>
                  <a:srgbClr val="FF2020"/>
                </a:highlight>
              </a:rPr>
              <a:t>CCCC</a:t>
            </a:r>
            <a:r>
              <a:rPr lang="en" sz="1200"/>
              <a:t>BCBA</a:t>
            </a:r>
            <a:r>
              <a:rPr lang="en" sz="1200">
                <a:highlight>
                  <a:schemeClr val="accent3"/>
                </a:highlight>
              </a:rPr>
              <a:t>BB</a:t>
            </a:r>
            <a:r>
              <a:rPr lang="en" sz="1200"/>
              <a:t>C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/>
              <a:t>B</a:t>
            </a:r>
            <a:r>
              <a:rPr lang="en" sz="1200">
                <a:highlight>
                  <a:srgbClr val="51E851"/>
                </a:highlight>
              </a:rPr>
              <a:t>AA</a:t>
            </a:r>
            <a:r>
              <a:rPr lang="en" sz="1200"/>
              <a:t>$BAB</a:t>
            </a:r>
            <a:r>
              <a:rPr lang="en" sz="1200">
                <a:highlight>
                  <a:srgbClr val="51E851"/>
                </a:highlight>
              </a:rPr>
              <a:t>AAAAA</a:t>
            </a:r>
            <a:r>
              <a:rPr lang="en" sz="1200">
                <a:highlight>
                  <a:srgbClr val="0000FF"/>
                </a:highlight>
              </a:rPr>
              <a:t>BB</a:t>
            </a:r>
            <a:r>
              <a:rPr lang="en" sz="1200"/>
              <a:t>A</a:t>
            </a:r>
            <a:r>
              <a:rPr lang="en" sz="1200">
                <a:highlight>
                  <a:srgbClr val="FF2020"/>
                </a:highlight>
              </a:rPr>
              <a:t>CC</a:t>
            </a:r>
            <a:r>
              <a:rPr lang="en" sz="1200">
                <a:highlight>
                  <a:srgbClr val="51E851"/>
                </a:highlight>
              </a:rPr>
              <a:t>AA</a:t>
            </a:r>
            <a:endParaRPr sz="1200">
              <a:highlight>
                <a:srgbClr val="51E85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cxnSp>
        <p:nvCxnSpPr>
          <p:cNvPr id="443" name="Google Shape;443;p67"/>
          <p:cNvCxnSpPr>
            <a:stCxn id="441" idx="2"/>
            <a:endCxn id="442" idx="0"/>
          </p:cNvCxnSpPr>
          <p:nvPr/>
        </p:nvCxnSpPr>
        <p:spPr>
          <a:xfrm>
            <a:off x="4641675" y="2278775"/>
            <a:ext cx="0" cy="955500"/>
          </a:xfrm>
          <a:prstGeom prst="straightConnector1">
            <a:avLst/>
          </a:prstGeom>
          <a:noFill/>
          <a:ln cap="flat" cmpd="sng" w="9525">
            <a:solidFill>
              <a:srgbClr val="FF202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8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49" name="Google Shape;449;p6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68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 with annb$aa as last column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51" name="Google Shape;45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8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68"/>
          <p:cNvSpPr txBox="1"/>
          <p:nvPr>
            <p:ph type="title"/>
          </p:nvPr>
        </p:nvSpPr>
        <p:spPr>
          <a:xfrm>
            <a:off x="4990350" y="1179175"/>
            <a:ext cx="23715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annb$aa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4" name="Google Shape;454;p68"/>
          <p:cNvCxnSpPr/>
          <p:nvPr/>
        </p:nvCxnSpPr>
        <p:spPr>
          <a:xfrm flipH="1">
            <a:off x="4515175" y="1759700"/>
            <a:ext cx="988800" cy="125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9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60" name="Google Shape;460;p6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69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b="1" sz="1900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62" name="Google Shape;46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9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69" name="Google Shape;469;p7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70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71" name="Google Shape;47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70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78" name="Google Shape;478;p7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7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80" name="Google Shape;48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1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87" name="Google Shape;487;p7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7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89" name="Google Shape;48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2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496" name="Google Shape;496;p7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73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98" name="Google Shape;49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3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05" name="Google Shape;505;p7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74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07" name="Google Shape;5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74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14" name="Google Shape;514;p7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75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16" name="Google Shape;51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5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23" name="Google Shape;523;p7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76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25" name="Google Shape;52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76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32" name="Google Shape;532;p7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77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34" name="Google Shape;5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7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</a:t>
            </a:r>
            <a:endParaRPr b="1" sz="3200">
              <a:solidFill>
                <a:srgbClr val="0A012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$b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8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41" name="Google Shape;541;p7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78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43" name="Google Shape;5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78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endParaRPr b="1" sz="3200">
              <a:solidFill>
                <a:srgbClr val="0A012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9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50" name="Google Shape;550;p7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79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52" name="Google Shape;55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9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banan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A0120"/>
                </a:solidFill>
                <a:highlight>
                  <a:srgbClr val="0A01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59" name="Google Shape;559;p8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Prepend annb$aa as column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61" name="Google Shape;56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80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b="1" sz="3200">
              <a:solidFill>
                <a:srgbClr val="0A0120"/>
              </a:solidFill>
              <a:highlight>
                <a:srgbClr val="0A01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68" name="Google Shape;568;p8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81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70" name="Google Shape;57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81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banana</a:t>
            </a:r>
            <a:endParaRPr b="1" sz="3200">
              <a:highlight>
                <a:srgbClr val="FF202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$banan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rgbClr val="FF2020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Decoding</a:t>
            </a:r>
            <a:endParaRPr sz="2400"/>
          </a:p>
        </p:txBody>
      </p:sp>
      <p:sp>
        <p:nvSpPr>
          <p:cNvPr id="577" name="Google Shape;577;p8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82"/>
          <p:cNvSpPr txBox="1"/>
          <p:nvPr/>
        </p:nvSpPr>
        <p:spPr>
          <a:xfrm>
            <a:off x="449850" y="936575"/>
            <a:ext cx="5003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First row is original string</a:t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79" name="Google Shape;57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7002650" y="3043578"/>
            <a:ext cx="2302198" cy="115827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82"/>
          <p:cNvSpPr txBox="1"/>
          <p:nvPr>
            <p:ph type="title"/>
          </p:nvPr>
        </p:nvSpPr>
        <p:spPr>
          <a:xfrm>
            <a:off x="2310925" y="1493416"/>
            <a:ext cx="25410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$banana</a:t>
            </a:r>
            <a:endParaRPr b="1" sz="3200"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a$banan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ana$ban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anana$b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na$bana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nana$ba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3"/>
          <p:cNvSpPr txBox="1"/>
          <p:nvPr>
            <p:ph idx="1" type="subTitle"/>
          </p:nvPr>
        </p:nvSpPr>
        <p:spPr>
          <a:xfrm>
            <a:off x="480427" y="290625"/>
            <a:ext cx="51501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/>
              <a:t>Optimizations - Encoding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86" name="Google Shape;586;p8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83"/>
          <p:cNvSpPr txBox="1"/>
          <p:nvPr/>
        </p:nvSpPr>
        <p:spPr>
          <a:xfrm>
            <a:off x="480425" y="1002375"/>
            <a:ext cx="6698100" cy="1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Light"/>
              <a:buChar char="-"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In practice, uses suffix 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arrays 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rather than building out each rotation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Barlow Light"/>
              <a:buChar char="-"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Can sort in </a:t>
            </a:r>
            <a:r>
              <a:rPr b="1" lang="en" sz="15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O(nlogn)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 time with a doubling prefix check approach 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88" name="Google Shape;588;p83"/>
          <p:cNvSpPr txBox="1"/>
          <p:nvPr/>
        </p:nvSpPr>
        <p:spPr>
          <a:xfrm>
            <a:off x="3984225" y="1972250"/>
            <a:ext cx="13788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b="1" sz="2100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83"/>
          <p:cNvSpPr txBox="1"/>
          <p:nvPr/>
        </p:nvSpPr>
        <p:spPr>
          <a:xfrm>
            <a:off x="0" y="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83"/>
          <p:cNvSpPr txBox="1"/>
          <p:nvPr/>
        </p:nvSpPr>
        <p:spPr>
          <a:xfrm>
            <a:off x="32212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83"/>
          <p:cNvSpPr txBox="1"/>
          <p:nvPr/>
        </p:nvSpPr>
        <p:spPr>
          <a:xfrm>
            <a:off x="215317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2" name="Google Shape;592;p83"/>
          <p:cNvSpPr txBox="1"/>
          <p:nvPr/>
        </p:nvSpPr>
        <p:spPr>
          <a:xfrm>
            <a:off x="2038925" y="1972250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[</a:t>
            </a:r>
            <a:endParaRPr b="1" sz="21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3" name="Google Shape;593;p83"/>
          <p:cNvSpPr txBox="1"/>
          <p:nvPr/>
        </p:nvSpPr>
        <p:spPr>
          <a:xfrm>
            <a:off x="1889525" y="213787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4" name="Google Shape;594;p83"/>
          <p:cNvSpPr txBox="1"/>
          <p:nvPr/>
        </p:nvSpPr>
        <p:spPr>
          <a:xfrm>
            <a:off x="2038925" y="329407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Barlow"/>
                <a:ea typeface="Barlow"/>
                <a:cs typeface="Barlow"/>
                <a:sym typeface="Barlow"/>
              </a:rPr>
              <a:t>[</a:t>
            </a:r>
            <a:endParaRPr b="1" sz="2100">
              <a:solidFill>
                <a:srgbClr val="FF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95" name="Google Shape;595;p83"/>
          <p:cNvSpPr txBox="1"/>
          <p:nvPr/>
        </p:nvSpPr>
        <p:spPr>
          <a:xfrm>
            <a:off x="196350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6" name="Google Shape;596;p83"/>
          <p:cNvSpPr txBox="1"/>
          <p:nvPr/>
        </p:nvSpPr>
        <p:spPr>
          <a:xfrm>
            <a:off x="1818575" y="1972250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7" name="Google Shape;597;p83"/>
          <p:cNvSpPr txBox="1"/>
          <p:nvPr/>
        </p:nvSpPr>
        <p:spPr>
          <a:xfrm>
            <a:off x="1818575" y="326512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p83"/>
          <p:cNvSpPr txBox="1"/>
          <p:nvPr/>
        </p:nvSpPr>
        <p:spPr>
          <a:xfrm>
            <a:off x="3737825" y="213787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9" name="Google Shape;599;p83"/>
          <p:cNvSpPr txBox="1"/>
          <p:nvPr/>
        </p:nvSpPr>
        <p:spPr>
          <a:xfrm>
            <a:off x="379025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0" name="Google Shape;600;p83"/>
          <p:cNvSpPr txBox="1"/>
          <p:nvPr/>
        </p:nvSpPr>
        <p:spPr>
          <a:xfrm>
            <a:off x="6017275" y="1972250"/>
            <a:ext cx="137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an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na$</a:t>
            </a:r>
            <a:endParaRPr b="1" sz="2100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b="1" lang="en" sz="2100">
                <a:solidFill>
                  <a:schemeClr val="lt2"/>
                </a:solidFill>
                <a:highlight>
                  <a:schemeClr val="accent2"/>
                </a:highlight>
                <a:latin typeface="Courier New"/>
                <a:ea typeface="Courier New"/>
                <a:cs typeface="Courier New"/>
                <a:sym typeface="Courier New"/>
              </a:rPr>
              <a:t>na</a:t>
            </a: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2"/>
              </a:solidFill>
              <a:highlight>
                <a:schemeClr val="accent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1" name="Google Shape;601;p83"/>
          <p:cNvSpPr txBox="1"/>
          <p:nvPr/>
        </p:nvSpPr>
        <p:spPr>
          <a:xfrm>
            <a:off x="5770875" y="213787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84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2" name="Google Shape;602;p83"/>
          <p:cNvSpPr txBox="1"/>
          <p:nvPr/>
        </p:nvSpPr>
        <p:spPr>
          <a:xfrm>
            <a:off x="5823300" y="3535125"/>
            <a:ext cx="5280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0000"/>
                </a:solidFill>
                <a:latin typeface="Barlow Light"/>
                <a:ea typeface="Barlow Light"/>
                <a:cs typeface="Barlow Light"/>
                <a:sym typeface="Barlow Light"/>
              </a:rPr>
              <a:t>[</a:t>
            </a:r>
            <a:endParaRPr sz="4800">
              <a:solidFill>
                <a:srgbClr val="FF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3" name="Google Shape;603;p83"/>
          <p:cNvSpPr txBox="1"/>
          <p:nvPr/>
        </p:nvSpPr>
        <p:spPr>
          <a:xfrm>
            <a:off x="5541575" y="270382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83"/>
          <p:cNvSpPr txBox="1"/>
          <p:nvPr/>
        </p:nvSpPr>
        <p:spPr>
          <a:xfrm>
            <a:off x="5541575" y="3773775"/>
            <a:ext cx="66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257250" y="4419650"/>
            <a:ext cx="137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Start</a:t>
            </a:r>
            <a:endParaRPr/>
          </a:p>
        </p:txBody>
      </p:sp>
      <p:sp>
        <p:nvSpPr>
          <p:cNvPr id="606" name="Google Shape;606;p83"/>
          <p:cNvSpPr txBox="1"/>
          <p:nvPr/>
        </p:nvSpPr>
        <p:spPr>
          <a:xfrm>
            <a:off x="1963500" y="4380375"/>
            <a:ext cx="14376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1-length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7" name="Google Shape;607;p83"/>
          <p:cNvSpPr txBox="1"/>
          <p:nvPr/>
        </p:nvSpPr>
        <p:spPr>
          <a:xfrm>
            <a:off x="3817975" y="4380375"/>
            <a:ext cx="14376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2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5815275" y="4380375"/>
            <a:ext cx="14376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4</a:t>
            </a: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-length prefix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Barlow Light"/>
                <a:ea typeface="Barlow Light"/>
                <a:cs typeface="Barlow Light"/>
                <a:sym typeface="Barlow Light"/>
              </a:rPr>
              <a:t>sorted</a:t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4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14" name="Google Shape;614;p8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84"/>
          <p:cNvSpPr txBox="1"/>
          <p:nvPr/>
        </p:nvSpPr>
        <p:spPr>
          <a:xfrm>
            <a:off x="3564175" y="138410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Classify each position i into L or 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S: string[i] &lt;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L: string[i] &gt;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If string[i] = string[i+1] 	set to same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16" name="Google Shape;616;p84"/>
          <p:cNvSpPr txBox="1"/>
          <p:nvPr/>
        </p:nvSpPr>
        <p:spPr>
          <a:xfrm>
            <a:off x="431450" y="1114350"/>
            <a:ext cx="28323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O(n)	- SA - IS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(Suffix Array - Induced Sorting)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Sort suffixes of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the prefixes of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 array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5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22" name="Google Shape;622;p8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23" name="Google Shape;623;p85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24" name="Google Shape;624;p85"/>
          <p:cNvSpPr txBox="1"/>
          <p:nvPr/>
        </p:nvSpPr>
        <p:spPr>
          <a:xfrm>
            <a:off x="1921175" y="3640125"/>
            <a:ext cx="50760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Last char “$” is always 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6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30" name="Google Shape;630;p8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31" name="Google Shape;631;p86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32" name="Google Shape;632;p86"/>
          <p:cNvSpPr txBox="1"/>
          <p:nvPr/>
        </p:nvSpPr>
        <p:spPr>
          <a:xfrm>
            <a:off x="2994025" y="3609475"/>
            <a:ext cx="34575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 &lt; $</a:t>
            </a:r>
            <a:endParaRPr sz="3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7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38" name="Google Shape;638;p8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39" name="Google Shape;639;p87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40" name="Google Shape;640;p87"/>
          <p:cNvSpPr txBox="1"/>
          <p:nvPr/>
        </p:nvSpPr>
        <p:spPr>
          <a:xfrm>
            <a:off x="3024675" y="3658525"/>
            <a:ext cx="29610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</a:t>
            </a:r>
            <a:r>
              <a:rPr lang="en" sz="3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&lt; a</a:t>
            </a:r>
            <a:endParaRPr sz="3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8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46" name="Google Shape;646;p8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47" name="Google Shape;647;p88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9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53" name="Google Shape;653;p8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89"/>
          <p:cNvSpPr txBox="1"/>
          <p:nvPr/>
        </p:nvSpPr>
        <p:spPr>
          <a:xfrm>
            <a:off x="664450" y="1157275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2: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Find LMS positions		Leftmost S-types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Index i is LMS if: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 is S-type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I-1 is L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0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60" name="Google Shape;660;p9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61" name="Google Shape;661;p90"/>
          <p:cNvGraphicFramePr/>
          <p:nvPr/>
        </p:nvGraphicFramePr>
        <p:xfrm>
          <a:off x="952475" y="10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62" name="Google Shape;662;p90"/>
          <p:cNvSpPr txBox="1"/>
          <p:nvPr/>
        </p:nvSpPr>
        <p:spPr>
          <a:xfrm>
            <a:off x="20683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90"/>
          <p:cNvSpPr txBox="1"/>
          <p:nvPr/>
        </p:nvSpPr>
        <p:spPr>
          <a:xfrm>
            <a:off x="40549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4" name="Google Shape;664;p90"/>
          <p:cNvSpPr txBox="1"/>
          <p:nvPr/>
        </p:nvSpPr>
        <p:spPr>
          <a:xfrm>
            <a:off x="7197825" y="3278425"/>
            <a:ext cx="9258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5" name="Google Shape;665;p90"/>
          <p:cNvSpPr txBox="1"/>
          <p:nvPr/>
        </p:nvSpPr>
        <p:spPr>
          <a:xfrm>
            <a:off x="1092700" y="39887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3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1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1" name="Google Shape;671;p9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91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3: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 </a:t>
            </a: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occurrences</a:t>
            </a: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of characters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Prefix sum to get start and end positions for each character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placed at front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 suffixes placed at end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2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8" name="Google Shape;678;p9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p92"/>
          <p:cNvSpPr txBox="1"/>
          <p:nvPr>
            <p:ph type="title"/>
          </p:nvPr>
        </p:nvSpPr>
        <p:spPr>
          <a:xfrm>
            <a:off x="938425" y="1198600"/>
            <a:ext cx="3201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ourier New"/>
                <a:ea typeface="Courier New"/>
                <a:cs typeface="Courier New"/>
                <a:sym typeface="Courier New"/>
              </a:rPr>
              <a:t>banana$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80" name="Google Shape;680;p92"/>
          <p:cNvGraphicFramePr/>
          <p:nvPr/>
        </p:nvGraphicFramePr>
        <p:xfrm>
          <a:off x="909550" y="214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81" name="Google Shape;681;p92"/>
          <p:cNvSpPr txBox="1"/>
          <p:nvPr/>
        </p:nvSpPr>
        <p:spPr>
          <a:xfrm>
            <a:off x="5329750" y="29780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82" name="Google Shape;682;p92"/>
          <p:cNvSpPr txBox="1"/>
          <p:nvPr/>
        </p:nvSpPr>
        <p:spPr>
          <a:xfrm>
            <a:off x="5420825" y="36883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3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88" name="Google Shape;688;p9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93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4: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Place LMS indices into ends of buckets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Starts constructing suffix array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4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5" name="Google Shape;695;p9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96" name="Google Shape;696;p94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97" name="Google Shape;697;p94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98" name="Google Shape;698;p94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99" name="Google Shape;699;p94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</a:t>
            </a:r>
            <a:r>
              <a:rPr b="1"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00" name="Google Shape;700;p94"/>
          <p:cNvGraphicFramePr/>
          <p:nvPr/>
        </p:nvGraphicFramePr>
        <p:xfrm>
          <a:off x="799225" y="30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01" name="Google Shape;701;p94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5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07" name="Google Shape;707;p9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08" name="Google Shape;708;p95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09" name="Google Shape;709;p95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10" name="Google Shape;710;p95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11" name="Google Shape;711;p95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b="1"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12" name="Google Shape;712;p95"/>
          <p:cNvGraphicFramePr/>
          <p:nvPr/>
        </p:nvGraphicFramePr>
        <p:xfrm>
          <a:off x="799225" y="30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13" name="Google Shape;713;p95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6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19" name="Google Shape;719;p9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20" name="Google Shape;720;p96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21" name="Google Shape;721;p96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22" name="Google Shape;722;p96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23" name="Google Shape;723;p96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</a:t>
            </a:r>
            <a:r>
              <a:rPr b="1"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24" name="Google Shape;724;p96"/>
          <p:cNvGraphicFramePr/>
          <p:nvPr/>
        </p:nvGraphicFramePr>
        <p:xfrm>
          <a:off x="799225" y="302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25" name="Google Shape;725;p96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7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31" name="Google Shape;731;p9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2" name="Google Shape;732;p97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5: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L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left to right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L-type: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front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8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38" name="Google Shape;738;p9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39" name="Google Shape;739;p98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40" name="Google Shape;740;p98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41" name="Google Shape;741;p98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42" name="Google Shape;742;p98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43" name="Google Shape;743;p98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44" name="Google Shape;744;p98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45" name="Google Shape;745;p98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6 - 1 = 5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9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51" name="Google Shape;751;p9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52" name="Google Shape;752;p99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53" name="Google Shape;753;p99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54" name="Google Shape;754;p99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55" name="Google Shape;755;p99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56" name="Google Shape;756;p99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57" name="Google Shape;757;p99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58" name="Google Shape;758;p99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- 1 = 4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0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64" name="Google Shape;764;p10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65" name="Google Shape;765;p100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66" name="Google Shape;766;p100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67" name="Google Shape;767;p100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68" name="Google Shape;768;p100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69" name="Google Shape;769;p100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70" name="Google Shape;770;p100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71" name="Google Shape;771;p100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- 1 = 0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1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77" name="Google Shape;777;p10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78" name="Google Shape;778;p101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79" name="Google Shape;779;p101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80" name="Google Shape;780;p101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781" name="Google Shape;781;p101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82" name="Google Shape;782;p101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783" name="Google Shape;783;p101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84" name="Google Shape;784;p101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- 1 = 2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2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90" name="Google Shape;790;p10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102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6: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S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S-type: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end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3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97" name="Google Shape;797;p10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98" name="Google Shape;798;p103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99" name="Google Shape;799;p103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00" name="Google Shape;800;p103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01" name="Google Shape;801;p103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02" name="Google Shape;802;p103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03" name="Google Shape;803;p103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04" name="Google Shape;804;p103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- 1 = 1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4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10" name="Google Shape;810;p10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11" name="Google Shape;811;p104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12" name="Google Shape;812;p104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13" name="Google Shape;813;p104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14" name="Google Shape;814;p104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15" name="Google Shape;815;p104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16" name="Google Shape;816;p104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17" name="Google Shape;817;p104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- 1 = 3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5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23" name="Google Shape;823;p10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24" name="Google Shape;824;p105"/>
          <p:cNvGraphicFramePr/>
          <p:nvPr/>
        </p:nvGraphicFramePr>
        <p:xfrm>
          <a:off x="891175" y="36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25" name="Google Shape;825;p105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7: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Convert to BWT string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26" name="Google Shape;826;p105"/>
          <p:cNvSpPr txBox="1"/>
          <p:nvPr/>
        </p:nvSpPr>
        <p:spPr>
          <a:xfrm>
            <a:off x="4655375" y="856875"/>
            <a:ext cx="37029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0: banana$		6: $			$banan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1: anana$		5: a$			a$bana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2: nana$		3: ana$		ana$ba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3: ana$		1: anana$		anana$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4: na$		0: banana$		banana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5: a$			4: na$		na$ban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6: $			2: nana$		nana$b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Take char at index before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6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32" name="Google Shape;832;p10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3" name="Google Shape;833;p106"/>
          <p:cNvSpPr txBox="1"/>
          <p:nvPr/>
        </p:nvSpPr>
        <p:spPr>
          <a:xfrm>
            <a:off x="431450" y="912050"/>
            <a:ext cx="7755000" cy="3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Why does this work?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sorted in same order as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should</a:t>
            </a: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be earlier in character’s bucket. S suffixes later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Use LMS as anchors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Fills in rest by induction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Part after first letter of suffix is the next suffix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Left to right L inducing sweep 	in order of tail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Right to left S inducing sweep	in reverse order of tail		fixes LMS ties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All sweeps were linear time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7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39" name="Google Shape;839;p10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40" name="Google Shape;840;p107"/>
          <p:cNvGraphicFramePr/>
          <p:nvPr/>
        </p:nvGraphicFramePr>
        <p:xfrm>
          <a:off x="4840025" y="115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739875"/>
                <a:gridCol w="739875"/>
                <a:gridCol w="739875"/>
                <a:gridCol w="739875"/>
              </a:tblGrid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53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1-3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5-6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41" name="Google Shape;841;p107"/>
          <p:cNvSpPr txBox="1"/>
          <p:nvPr/>
        </p:nvSpPr>
        <p:spPr>
          <a:xfrm>
            <a:off x="7904550" y="164772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Counts / bucket size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42" name="Google Shape;842;p107"/>
          <p:cNvSpPr txBox="1"/>
          <p:nvPr/>
        </p:nvSpPr>
        <p:spPr>
          <a:xfrm>
            <a:off x="7904550" y="2229775"/>
            <a:ext cx="23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Positions</a:t>
            </a:r>
            <a:endParaRPr sz="9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43" name="Google Shape;843;p107"/>
          <p:cNvSpPr txBox="1"/>
          <p:nvPr/>
        </p:nvSpPr>
        <p:spPr>
          <a:xfrm>
            <a:off x="369300" y="954900"/>
            <a:ext cx="6585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LMS positions: [1, 3, 6]</a:t>
            </a:r>
            <a:endParaRPr sz="2000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44" name="Google Shape;844;p107"/>
          <p:cNvGraphicFramePr/>
          <p:nvPr/>
        </p:nvGraphicFramePr>
        <p:xfrm>
          <a:off x="786975" y="281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845" name="Google Shape;845;p107"/>
          <p:cNvGraphicFramePr/>
          <p:nvPr/>
        </p:nvGraphicFramePr>
        <p:xfrm>
          <a:off x="1221725" y="164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 b="1"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</a:t>
                      </a:r>
                      <a:endParaRPr sz="20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b="1" sz="20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846" name="Google Shape;846;p107"/>
          <p:cNvSpPr txBox="1"/>
          <p:nvPr/>
        </p:nvSpPr>
        <p:spPr>
          <a:xfrm>
            <a:off x="2307400" y="4400300"/>
            <a:ext cx="22254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6 - 1 = 5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8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08"/>
          <p:cNvSpPr txBox="1"/>
          <p:nvPr>
            <p:ph idx="1" type="subTitle"/>
          </p:nvPr>
        </p:nvSpPr>
        <p:spPr>
          <a:xfrm>
            <a:off x="2987795" y="2313701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QUESTIONS?</a:t>
            </a:r>
            <a:endParaRPr sz="3000"/>
          </a:p>
        </p:txBody>
      </p:sp>
      <p:pic>
        <p:nvPicPr>
          <p:cNvPr id="853" name="Google Shape;85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3338241">
            <a:off x="5966600" y="2730928"/>
            <a:ext cx="2302198" cy="115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338241">
            <a:off x="650550" y="2809753"/>
            <a:ext cx="2302198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9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0" name="Google Shape;860;p10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1" name="Google Shape;861;p109"/>
          <p:cNvSpPr txBox="1"/>
          <p:nvPr/>
        </p:nvSpPr>
        <p:spPr>
          <a:xfrm>
            <a:off x="3564175" y="138410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1: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Classify each position i into L or 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S: string[i] &lt;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L: string[i] &gt; string[i+1]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If string[i] = string[i+1] 	set to same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62" name="Google Shape;862;p109"/>
          <p:cNvSpPr txBox="1"/>
          <p:nvPr/>
        </p:nvSpPr>
        <p:spPr>
          <a:xfrm>
            <a:off x="431450" y="1114350"/>
            <a:ext cx="28323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O(n)	- SA - IS 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(Suffix Array - Induced Sorting)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Sort suffixes of string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Suffixes are the prefixes of shifts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Suffix array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na$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$</a:t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10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8" name="Google Shape;868;p11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9" name="Google Shape;869;p110"/>
          <p:cNvSpPr txBox="1"/>
          <p:nvPr/>
        </p:nvSpPr>
        <p:spPr>
          <a:xfrm>
            <a:off x="664450" y="1157275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2: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Find LMS positions		Leftmost S-types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Index i is LMS if: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 is S-type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●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I-1 is L type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11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75" name="Google Shape;875;p11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111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3: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Count occurrences of characters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Prefix sum to get start and end positions for each character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L suffixes placed at front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 suffixes placed at end of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12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82" name="Google Shape;882;p11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3" name="Google Shape;883;p112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4: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Place LMS indices into ends of buckets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Starts constructing suffix array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13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89" name="Google Shape;889;p11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0" name="Google Shape;890;p113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5: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L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left to right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L-type: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front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4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96" name="Google Shape;896;p11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114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6: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Induce S suffixes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Scan current suffix array right to left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For each suffix index j: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If j-1 is S-type: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Insert at end of its bucket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5"/>
          <p:cNvSpPr txBox="1"/>
          <p:nvPr>
            <p:ph idx="1" type="subTitle"/>
          </p:nvPr>
        </p:nvSpPr>
        <p:spPr>
          <a:xfrm>
            <a:off x="480425" y="290625"/>
            <a:ext cx="5973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Optimizations - Induced Sorting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03" name="Google Shape;903;p11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904" name="Google Shape;904;p115"/>
          <p:cNvGraphicFramePr/>
          <p:nvPr/>
        </p:nvGraphicFramePr>
        <p:xfrm>
          <a:off x="891175" y="363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{A459CCF9-68A0-4872-80AA-E3C8BB3DD3FC}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l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lt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  <a:tr h="71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sz="3200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905" name="Google Shape;905;p115"/>
          <p:cNvSpPr txBox="1"/>
          <p:nvPr/>
        </p:nvSpPr>
        <p:spPr>
          <a:xfrm>
            <a:off x="670575" y="1071450"/>
            <a:ext cx="68172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Step 7:</a:t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Convert to BWT string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06" name="Google Shape;906;p115"/>
          <p:cNvSpPr txBox="1"/>
          <p:nvPr/>
        </p:nvSpPr>
        <p:spPr>
          <a:xfrm>
            <a:off x="4655375" y="856875"/>
            <a:ext cx="37029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0: banana$		6: $			$banan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1: anana$		5: a$			a$bana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2: nana$		3: ana$		ana$ba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3: ana$		1: anana$		anana$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4: na$		0: banana$		banana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$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5: a$			4: na$		na$ban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6: $			2: nana$		nana$b</a:t>
            </a: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Take char at index before</a:t>
            </a:r>
            <a:endParaRPr b="1"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